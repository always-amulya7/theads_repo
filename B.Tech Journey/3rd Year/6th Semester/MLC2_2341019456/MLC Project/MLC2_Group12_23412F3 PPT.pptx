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embeddedFontLst>
    <p:embeddedFont>
      <p:font typeface="Montserrat Black"/>
      <p:regular r:id="rId17"/>
    </p:embeddedFont>
    <p:embeddedFont>
      <p:font typeface="Montserrat Black"/>
      <p:regular r:id="rId18"/>
    </p:embeddedFont>
    <p:embeddedFont>
      <p:font typeface="Inconsolata"/>
      <p:regular r:id="rId19"/>
    </p:embeddedFont>
    <p:embeddedFont>
      <p:font typeface="Inconsolata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slideLayout" Target="../slideLayouts/slideLayout10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602" y="564505"/>
            <a:ext cx="3027015" cy="322511"/>
          </a:xfrm>
          <a:prstGeom prst="roundRect">
            <a:avLst>
              <a:gd name="adj" fmla="val 1772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612725" y="618530"/>
            <a:ext cx="2810768" cy="214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MACHINE LEARNING CONCEPT – 2 (CSE 3968)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21732" y="559743"/>
            <a:ext cx="1378893" cy="332036"/>
          </a:xfrm>
          <a:prstGeom prst="roundRect">
            <a:avLst>
              <a:gd name="adj" fmla="val 1721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34619" y="618530"/>
            <a:ext cx="1153120" cy="214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SESSION: 2025–26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4602" y="953691"/>
            <a:ext cx="7528694" cy="563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Handwritten Digit Recognition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504602" y="1749177"/>
            <a:ext cx="8134796" cy="53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Using Deep Learning, CNN &amp; OCR for intelligent, real-time recognition of single-digit, multi-digit, and Roman numeral handwritten inputs.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4602" y="2504480"/>
            <a:ext cx="8134796" cy="13469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4602" y="2737172"/>
            <a:ext cx="8134796" cy="268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Team Members: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4602" y="3179415"/>
            <a:ext cx="8134796" cy="53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Amulya Shrivastava (2341019456), Amaan Ahmed (2341001055), Anusha Kumari (2341011265), Kumari Muskan (2341013427)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4602" y="3889697"/>
            <a:ext cx="8134796" cy="268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Section: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23412F3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4602" y="4331940"/>
            <a:ext cx="8134796" cy="268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Semester: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6th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4602" y="4774183"/>
            <a:ext cx="8134796" cy="268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Branch: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B.Tech CSE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4602" y="5261446"/>
            <a:ext cx="8134796" cy="13469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4602" y="5494139"/>
            <a:ext cx="8134796" cy="80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Department of Computer Science &amp; Engineering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ITER, Siksha 'O' Anusandhan (Deemed To Be University)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Bhubaneswar, Odisha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7916" y="489198"/>
            <a:ext cx="1011957" cy="301898"/>
          </a:xfrm>
          <a:prstGeom prst="roundRect">
            <a:avLst>
              <a:gd name="adj" fmla="val 1893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2914" y="544041"/>
            <a:ext cx="801960" cy="192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67916" y="844302"/>
            <a:ext cx="8208169" cy="1044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Is Handwritten Digit Recognition?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467916" y="2208312"/>
            <a:ext cx="3900264" cy="144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Handwritten Digit Recognition enables machines to identify handwritten numerical content from images — a core application of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AI, Machine Learning, and Computer Vision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It powers automation across banking, postal systems, education, and document digitization.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7916" y="3769370"/>
            <a:ext cx="3900264" cy="960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Traditional systems struggle with unclear strokes, rotated images, multi-digit inputs, noisy backgrounds, and irregular spacing — reducing real-world accuracy.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7916" y="4880000"/>
            <a:ext cx="3900264" cy="1339007"/>
          </a:xfrm>
          <a:prstGeom prst="roundRect">
            <a:avLst>
              <a:gd name="adj" fmla="val 427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75" y="5114032"/>
            <a:ext cx="208880" cy="167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0915" y="5054873"/>
            <a:ext cx="3190205" cy="960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project integrates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Deep Learning (CNN)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+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Tesseract OCR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to overcome these limitations with improved flexibility and prediction accuracy.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583" y="2278484"/>
            <a:ext cx="3900264" cy="390026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583" y="2278484"/>
            <a:ext cx="3900264" cy="3900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7916" y="475655"/>
            <a:ext cx="1546547" cy="301898"/>
          </a:xfrm>
          <a:prstGeom prst="roundRect">
            <a:avLst>
              <a:gd name="adj" fmla="val 1893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2914" y="530498"/>
            <a:ext cx="1336551" cy="192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PROBLEM &amp; OBJECTIVES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67916" y="830759"/>
            <a:ext cx="8208169" cy="1044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Challenges &amp; What We Set Out to Achieve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347588" y="2074962"/>
            <a:ext cx="4140919" cy="4307384"/>
          </a:xfrm>
          <a:prstGeom prst="roundRect">
            <a:avLst>
              <a:gd name="adj" fmla="val 138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514648" y="2208088"/>
            <a:ext cx="2089026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4648" y="2602260"/>
            <a:ext cx="3806800" cy="2154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Multiple digits in a single image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Rotated, inverted, or poorly aligned inputs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Irregular spacing and overlapping structures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Roman numeral representations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Noisy, low-quality handwritten images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 adaptive learning from past mistakes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80583" y="2208088"/>
            <a:ext cx="2092375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Objectives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3239" y="2627226"/>
            <a:ext cx="250627" cy="2506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23656" y="2618929"/>
            <a:ext cx="3357190" cy="480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Recognize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single and multi-digit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handwritten inputs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3239" y="3403216"/>
            <a:ext cx="250627" cy="2506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3656" y="3394918"/>
            <a:ext cx="3357190" cy="240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Support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Roman numeral identification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3239" y="4179205"/>
            <a:ext cx="250627" cy="2506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23656" y="4170908"/>
            <a:ext cx="3357190" cy="480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Integrate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Tesseract OCR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for improved extraction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3239" y="4955195"/>
            <a:ext cx="250627" cy="2506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23656" y="4946898"/>
            <a:ext cx="3357190" cy="480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Implement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 retraining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from misclassified samples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43239" y="5731185"/>
            <a:ext cx="250627" cy="25062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23656" y="5722888"/>
            <a:ext cx="3357190" cy="480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 a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Flask web app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for real-time predictions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7916" y="477069"/>
            <a:ext cx="945133" cy="301898"/>
          </a:xfrm>
          <a:prstGeom prst="roundRect">
            <a:avLst>
              <a:gd name="adj" fmla="val 1893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2914" y="531912"/>
            <a:ext cx="735137" cy="192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67916" y="832172"/>
            <a:ext cx="6298183" cy="522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End-to-End Project Pipeline</a:t>
            </a:r>
            <a:endParaRPr lang="en-US" sz="3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307" y="1554138"/>
            <a:ext cx="7469386" cy="3956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1442" y="4381694"/>
            <a:ext cx="1846819" cy="230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740113" y="4678212"/>
            <a:ext cx="1978148" cy="331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MNIST, custom samples, and user uploads.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17802" y="1823594"/>
            <a:ext cx="1978148" cy="461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Image Preprocessing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7802" y="2350963"/>
            <a:ext cx="1978148" cy="331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Grayscale, denoise, threshold, resize, rotate.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50167" y="1823594"/>
            <a:ext cx="1978148" cy="461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OCR &amp; Segmentation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50167" y="2350963"/>
            <a:ext cx="1978148" cy="331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Tesseract scan and contour-based separation.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47854" y="4381823"/>
            <a:ext cx="1920564" cy="230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CNN &amp; Deployment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147854" y="4678340"/>
            <a:ext cx="1978148" cy="331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Train CNN, Flask app, real-time predictions.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7916" y="5660231"/>
            <a:ext cx="8208169" cy="72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system follows a structured multi-stage workflow — from data collection and preprocessing through OCR integration, CNN-based prediction, and finally real-time web deployment — ensuring accurate and flexible handwritten digit recognition.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2849" y="463525"/>
            <a:ext cx="1365870" cy="258589"/>
          </a:xfrm>
          <a:prstGeom prst="roundRect">
            <a:avLst>
              <a:gd name="adj" fmla="val 2210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6016" y="512490"/>
            <a:ext cx="1179537" cy="160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&amp; PREPROCESSING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2849" y="763563"/>
            <a:ext cx="6311875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&amp; Image Preprocessing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12849" y="1483519"/>
            <a:ext cx="184323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12849" y="1830512"/>
            <a:ext cx="3979292" cy="867891"/>
          </a:xfrm>
          <a:prstGeom prst="roundRect">
            <a:avLst>
              <a:gd name="adj" fmla="val 65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9313" y="1996976"/>
            <a:ext cx="184323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MNIST Dataset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79313" y="2331021"/>
            <a:ext cx="3646363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60,000 handwritten samples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2849" y="2802062"/>
            <a:ext cx="3979292" cy="867891"/>
          </a:xfrm>
          <a:prstGeom prst="roundRect">
            <a:avLst>
              <a:gd name="adj" fmla="val 65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9313" y="2968526"/>
            <a:ext cx="184323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 Datasets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79313" y="3302571"/>
            <a:ext cx="3646363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Team-collected samples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2849" y="3773612"/>
            <a:ext cx="3979292" cy="867891"/>
          </a:xfrm>
          <a:prstGeom prst="roundRect">
            <a:avLst>
              <a:gd name="adj" fmla="val 65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9313" y="3940076"/>
            <a:ext cx="184323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Uploads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79313" y="4274121"/>
            <a:ext cx="3646363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Web interface samples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2849" y="4745162"/>
            <a:ext cx="3979292" cy="867891"/>
          </a:xfrm>
          <a:prstGeom prst="roundRect">
            <a:avLst>
              <a:gd name="adj" fmla="val 65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9313" y="4911626"/>
            <a:ext cx="184323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Retraining Pool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79313" y="5245671"/>
            <a:ext cx="3646363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Misclassified samples for updates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6621" y="1483519"/>
            <a:ext cx="205219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Preprocessing Steps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56621" y="1830512"/>
            <a:ext cx="294903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6621" y="2062088"/>
            <a:ext cx="3979292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1" name="Text 19"/>
          <p:cNvSpPr/>
          <p:nvPr/>
        </p:nvSpPr>
        <p:spPr>
          <a:xfrm>
            <a:off x="4756621" y="2173858"/>
            <a:ext cx="3979292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Grayscale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standardize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6621" y="2589014"/>
            <a:ext cx="294903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6621" y="2820591"/>
            <a:ext cx="3979292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4" name="Text 22"/>
          <p:cNvSpPr/>
          <p:nvPr/>
        </p:nvSpPr>
        <p:spPr>
          <a:xfrm>
            <a:off x="4756621" y="2932361"/>
            <a:ext cx="3979292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Noise Removal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clean artifacts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6621" y="3347517"/>
            <a:ext cx="294903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6621" y="3579093"/>
            <a:ext cx="3979292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7" name="Text 25"/>
          <p:cNvSpPr/>
          <p:nvPr/>
        </p:nvSpPr>
        <p:spPr>
          <a:xfrm>
            <a:off x="4756621" y="3690863"/>
            <a:ext cx="3979292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Thresholding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binarize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6621" y="4106019"/>
            <a:ext cx="294903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6621" y="4337596"/>
            <a:ext cx="3979292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30" name="Text 28"/>
          <p:cNvSpPr/>
          <p:nvPr/>
        </p:nvSpPr>
        <p:spPr>
          <a:xfrm>
            <a:off x="4756621" y="4449366"/>
            <a:ext cx="3979292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Resizing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28×28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56621" y="4864522"/>
            <a:ext cx="294903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6621" y="5096098"/>
            <a:ext cx="3979292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33" name="Text 31"/>
          <p:cNvSpPr/>
          <p:nvPr/>
        </p:nvSpPr>
        <p:spPr>
          <a:xfrm>
            <a:off x="4756621" y="5207868"/>
            <a:ext cx="3979292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Rotation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fix orientation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56621" y="5623024"/>
            <a:ext cx="294903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56621" y="5854601"/>
            <a:ext cx="3979292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36" name="Text 34"/>
          <p:cNvSpPr/>
          <p:nvPr/>
        </p:nvSpPr>
        <p:spPr>
          <a:xfrm>
            <a:off x="4756621" y="5966371"/>
            <a:ext cx="3979292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Contour Detection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isolate digits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0250" y="348853"/>
            <a:ext cx="999604" cy="198165"/>
          </a:xfrm>
          <a:prstGeom prst="roundRect">
            <a:avLst>
              <a:gd name="adj" fmla="val 2884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5780" y="388962"/>
            <a:ext cx="848544" cy="117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OCR &amp; SEGMENTATION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30250" y="573509"/>
            <a:ext cx="5845597" cy="368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Tesseract OCR &amp; Digit Segmentation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30250" y="1107877"/>
            <a:ext cx="2122810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OCR Integration Workflow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0250" y="1366838"/>
            <a:ext cx="235893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0250" y="1553021"/>
            <a:ext cx="3746971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8" name="Text 6"/>
          <p:cNvSpPr/>
          <p:nvPr/>
        </p:nvSpPr>
        <p:spPr>
          <a:xfrm>
            <a:off x="330250" y="1640532"/>
            <a:ext cx="374697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Upload handwritten 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0250" y="1847627"/>
            <a:ext cx="374697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 the web interface or drag-and-drop.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0250" y="2149748"/>
            <a:ext cx="235893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0250" y="2335932"/>
            <a:ext cx="3746971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2" name="Text 10"/>
          <p:cNvSpPr/>
          <p:nvPr/>
        </p:nvSpPr>
        <p:spPr>
          <a:xfrm>
            <a:off x="330250" y="2423443"/>
            <a:ext cx="374697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Check angle and layout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0250" y="2630537"/>
            <a:ext cx="374697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Auto-correct inverted, tilted, or rotated images.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0250" y="2932658"/>
            <a:ext cx="235893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0250" y="3118842"/>
            <a:ext cx="3746971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6" name="Text 14"/>
          <p:cNvSpPr/>
          <p:nvPr/>
        </p:nvSpPr>
        <p:spPr>
          <a:xfrm>
            <a:off x="330250" y="3206353"/>
            <a:ext cx="374697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Send to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Tesseract OCR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0250" y="3413447"/>
            <a:ext cx="374697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Scan and identify candidate characters.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0250" y="3715569"/>
            <a:ext cx="235893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0250" y="3901753"/>
            <a:ext cx="3746971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0" name="Text 18"/>
          <p:cNvSpPr/>
          <p:nvPr/>
        </p:nvSpPr>
        <p:spPr>
          <a:xfrm>
            <a:off x="330250" y="3989263"/>
            <a:ext cx="374697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Segment digits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0250" y="4196358"/>
            <a:ext cx="374697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Contour detection isolates each digit.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0250" y="4498479"/>
            <a:ext cx="235893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0250" y="4684663"/>
            <a:ext cx="3746971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4" name="Text 22"/>
          <p:cNvSpPr/>
          <p:nvPr/>
        </p:nvSpPr>
        <p:spPr>
          <a:xfrm>
            <a:off x="330250" y="4772174"/>
            <a:ext cx="374697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Predict symbol values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0250" y="4979268"/>
            <a:ext cx="374697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CNN classifies each extracted digit or Roman numeral.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0250" y="5281389"/>
            <a:ext cx="235893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0250" y="5467573"/>
            <a:ext cx="3746971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8" name="Text 26"/>
          <p:cNvSpPr/>
          <p:nvPr/>
        </p:nvSpPr>
        <p:spPr>
          <a:xfrm>
            <a:off x="330250" y="5555084"/>
            <a:ext cx="374697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Return results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0250" y="5762179"/>
            <a:ext cx="3746971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Show predictions with confidence and annotations.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69817" y="1107877"/>
            <a:ext cx="1566342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Digit Segmentation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69817" y="1366838"/>
            <a:ext cx="4448621" cy="809923"/>
          </a:xfrm>
          <a:prstGeom prst="roundRect">
            <a:avLst>
              <a:gd name="adj" fmla="val 706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02051" y="1499071"/>
            <a:ext cx="1481138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Contour Detection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02051" y="1749698"/>
            <a:ext cx="4184154" cy="29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Trace ink regions to find digit boundaries and separate connected shapes.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69817" y="2243063"/>
            <a:ext cx="4448621" cy="662508"/>
          </a:xfrm>
          <a:prstGeom prst="roundRect">
            <a:avLst>
              <a:gd name="adj" fmla="val 863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02051" y="2375297"/>
            <a:ext cx="1505694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Overlapping Digits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02051" y="2625923"/>
            <a:ext cx="4184154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 boundary checks to distinguish adjacent or touching strokes.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69817" y="2971874"/>
            <a:ext cx="4448621" cy="662508"/>
          </a:xfrm>
          <a:prstGeom prst="roundRect">
            <a:avLst>
              <a:gd name="adj" fmla="val 863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02051" y="3104108"/>
            <a:ext cx="1474589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Normalization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02051" y="3354735"/>
            <a:ext cx="4184154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Resize and center each crop for consistent CNN input.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69817" y="3700686"/>
            <a:ext cx="4448621" cy="662508"/>
          </a:xfrm>
          <a:prstGeom prst="roundRect">
            <a:avLst>
              <a:gd name="adj" fmla="val 863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02051" y="3832920"/>
            <a:ext cx="1474589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CNN Integration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02051" y="4083546"/>
            <a:ext cx="4184154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Pass normalized crops into the model one by one.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69817" y="4429497"/>
            <a:ext cx="4448621" cy="662508"/>
          </a:xfrm>
          <a:prstGeom prst="roundRect">
            <a:avLst>
              <a:gd name="adj" fmla="val 863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02051" y="4561731"/>
            <a:ext cx="1474589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Multi-Digit Output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02051" y="4812357"/>
            <a:ext cx="4184154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Combine ordered predictions to reconstruct full numbers.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69817" y="5158308"/>
            <a:ext cx="4448621" cy="662508"/>
          </a:xfrm>
          <a:prstGeom prst="roundRect">
            <a:avLst>
              <a:gd name="adj" fmla="val 863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502051" y="5290542"/>
            <a:ext cx="1474589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Robustness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02051" y="5541169"/>
            <a:ext cx="4184154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Handles varied handwriting, spacing, and orientation.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0250" y="6147271"/>
            <a:ext cx="8483501" cy="361801"/>
          </a:xfrm>
          <a:prstGeom prst="roundRect">
            <a:avLst>
              <a:gd name="adj" fmla="val 1580"/>
            </a:avLst>
          </a:prstGeom>
          <a:solidFill>
            <a:srgbClr val="B6FCB8"/>
          </a:solidFill>
          <a:ln/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196" y="6301011"/>
            <a:ext cx="147414" cy="117946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713556" y="6243042"/>
            <a:ext cx="7982248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Segmentation and OCR work together to recognize multi-digit and Roman numeral inputs reliably.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2849" y="463525"/>
            <a:ext cx="1365870" cy="258589"/>
          </a:xfrm>
          <a:prstGeom prst="roundRect">
            <a:avLst>
              <a:gd name="adj" fmla="val 2210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6016" y="512490"/>
            <a:ext cx="1179537" cy="160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&amp;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2849" y="763563"/>
            <a:ext cx="6824886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CNN Model &amp; System Architecture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12849" y="1483519"/>
            <a:ext cx="280206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CNN Architecture Workflow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12849" y="1830512"/>
            <a:ext cx="294903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2849" y="2062088"/>
            <a:ext cx="3979292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8" name="Text 6"/>
          <p:cNvSpPr/>
          <p:nvPr/>
        </p:nvSpPr>
        <p:spPr>
          <a:xfrm>
            <a:off x="412849" y="2173858"/>
            <a:ext cx="3979292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Image input (28×28)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2849" y="2589014"/>
            <a:ext cx="294903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2849" y="2820591"/>
            <a:ext cx="3979292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1" name="Text 9"/>
          <p:cNvSpPr/>
          <p:nvPr/>
        </p:nvSpPr>
        <p:spPr>
          <a:xfrm>
            <a:off x="412849" y="2932361"/>
            <a:ext cx="3979292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Resize, normalize, and denoise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2849" y="3347517"/>
            <a:ext cx="294903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2849" y="3579093"/>
            <a:ext cx="3979292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4" name="Text 12"/>
          <p:cNvSpPr/>
          <p:nvPr/>
        </p:nvSpPr>
        <p:spPr>
          <a:xfrm>
            <a:off x="412849" y="3690863"/>
            <a:ext cx="3979292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Convolution extracts features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2849" y="4106019"/>
            <a:ext cx="294903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2849" y="4337596"/>
            <a:ext cx="3979292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412849" y="4449366"/>
            <a:ext cx="3979292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ReLU adds non-linearity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2849" y="4864522"/>
            <a:ext cx="294903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2849" y="5096098"/>
            <a:ext cx="3979292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0" name="Text 18"/>
          <p:cNvSpPr/>
          <p:nvPr/>
        </p:nvSpPr>
        <p:spPr>
          <a:xfrm>
            <a:off x="412849" y="5207868"/>
            <a:ext cx="3979292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Max pooling reduces dimensions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2849" y="5623024"/>
            <a:ext cx="294903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2849" y="5854601"/>
            <a:ext cx="3979292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3" name="Text 21"/>
          <p:cNvSpPr/>
          <p:nvPr/>
        </p:nvSpPr>
        <p:spPr>
          <a:xfrm>
            <a:off x="412849" y="5966371"/>
            <a:ext cx="3979292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Flatten, dense layers, softmax output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6621" y="1717551"/>
            <a:ext cx="277259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Architecture Layers</a:t>
            </a:r>
            <a:endParaRPr lang="en-US" sz="14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6621" y="2064544"/>
            <a:ext cx="3979292" cy="3979292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621" y="2064544"/>
            <a:ext cx="3979292" cy="39792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3696" y="447452"/>
            <a:ext cx="1566639" cy="251668"/>
          </a:xfrm>
          <a:prstGeom prst="roundRect">
            <a:avLst>
              <a:gd name="adj" fmla="val 2271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4928" y="495449"/>
            <a:ext cx="138417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IMPLEMENTATION &amp; WEB APP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3696" y="738708"/>
            <a:ext cx="7514853" cy="450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Technologies &amp; Flask Web Application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03696" y="1337965"/>
            <a:ext cx="2712765" cy="805755"/>
          </a:xfrm>
          <a:prstGeom prst="roundRect">
            <a:avLst>
              <a:gd name="adj" fmla="val 1134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646" y="1337965"/>
            <a:ext cx="76200" cy="805755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7" name="Text 5"/>
          <p:cNvSpPr/>
          <p:nvPr/>
        </p:nvSpPr>
        <p:spPr>
          <a:xfrm>
            <a:off x="624036" y="1501155"/>
            <a:ext cx="1802309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4036" y="1785863"/>
            <a:ext cx="23292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5580" y="1337965"/>
            <a:ext cx="2712765" cy="805755"/>
          </a:xfrm>
          <a:prstGeom prst="roundRect">
            <a:avLst>
              <a:gd name="adj" fmla="val 1134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96530" y="1337965"/>
            <a:ext cx="76200" cy="805755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1" name="Text 9"/>
          <p:cNvSpPr/>
          <p:nvPr/>
        </p:nvSpPr>
        <p:spPr>
          <a:xfrm>
            <a:off x="3435921" y="1501155"/>
            <a:ext cx="1921966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TensorFlow &amp; Keras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35921" y="1785863"/>
            <a:ext cx="23292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7465" y="1337965"/>
            <a:ext cx="2712765" cy="805755"/>
          </a:xfrm>
          <a:prstGeom prst="roundRect">
            <a:avLst>
              <a:gd name="adj" fmla="val 1134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08415" y="1337965"/>
            <a:ext cx="76200" cy="805755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5" name="Text 13"/>
          <p:cNvSpPr/>
          <p:nvPr/>
        </p:nvSpPr>
        <p:spPr>
          <a:xfrm>
            <a:off x="6247805" y="1501155"/>
            <a:ext cx="1802309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OpenCV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47805" y="1785863"/>
            <a:ext cx="23292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Image preprocessing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3696" y="2242840"/>
            <a:ext cx="2712765" cy="805755"/>
          </a:xfrm>
          <a:prstGeom prst="roundRect">
            <a:avLst>
              <a:gd name="adj" fmla="val 1134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646" y="2242840"/>
            <a:ext cx="76200" cy="805755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9" name="Text 17"/>
          <p:cNvSpPr/>
          <p:nvPr/>
        </p:nvSpPr>
        <p:spPr>
          <a:xfrm>
            <a:off x="624036" y="2406030"/>
            <a:ext cx="1802309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Tesseract OCR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4036" y="2690738"/>
            <a:ext cx="23292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Text extraction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15580" y="2242840"/>
            <a:ext cx="2712765" cy="805755"/>
          </a:xfrm>
          <a:prstGeom prst="roundRect">
            <a:avLst>
              <a:gd name="adj" fmla="val 1134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96530" y="2242840"/>
            <a:ext cx="76200" cy="805755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23" name="Text 21"/>
          <p:cNvSpPr/>
          <p:nvPr/>
        </p:nvSpPr>
        <p:spPr>
          <a:xfrm>
            <a:off x="3435921" y="2406030"/>
            <a:ext cx="1802309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Flask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35921" y="2690738"/>
            <a:ext cx="23292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Web app framework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27465" y="2242840"/>
            <a:ext cx="2712765" cy="805755"/>
          </a:xfrm>
          <a:prstGeom prst="roundRect">
            <a:avLst>
              <a:gd name="adj" fmla="val 1134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08415" y="2242840"/>
            <a:ext cx="76200" cy="805755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27" name="Text 25"/>
          <p:cNvSpPr/>
          <p:nvPr/>
        </p:nvSpPr>
        <p:spPr>
          <a:xfrm>
            <a:off x="6247805" y="2406030"/>
            <a:ext cx="1802309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NumPy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47805" y="2690738"/>
            <a:ext cx="23292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Array operations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3696" y="3196084"/>
            <a:ext cx="8336607" cy="10790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03696" y="3453482"/>
            <a:ext cx="2208237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Flask Web Application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03696" y="3777853"/>
            <a:ext cx="4339977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browser app lets users upload handwritten images and receive instant predictions for single-digit, multi-digit, and Roman numeral inputs.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3696" y="4473327"/>
            <a:ext cx="4339977" cy="685651"/>
          </a:xfrm>
          <a:prstGeom prst="roundRect">
            <a:avLst>
              <a:gd name="adj" fmla="val 834"/>
            </a:avLst>
          </a:prstGeom>
          <a:solidFill>
            <a:srgbClr val="B6D6FC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836" y="4670227"/>
            <a:ext cx="180231" cy="14414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72207" y="4608463"/>
            <a:ext cx="372732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Execution Flow: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Data Loading → Preprocessing → CNN Training → Real-Time Prediction → Result Display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100117" y="3453482"/>
            <a:ext cx="1810271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Web App Features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100117" y="3777853"/>
            <a:ext cx="3644875" cy="1341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Image upload and drag-and-drop</a:t>
            </a:r>
            <a:endParaRPr lang="en-US" sz="11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Digit and Roman numeral prediction</a:t>
            </a:r>
            <a:endParaRPr lang="en-US" sz="11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Confidence scores</a:t>
            </a:r>
            <a:endParaRPr lang="en-US" sz="11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Batch image support</a:t>
            </a:r>
            <a:endParaRPr lang="en-US" sz="11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Prediction history</a:t>
            </a:r>
            <a:endParaRPr lang="en-US" sz="11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Retraining feedback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100117" y="5218361"/>
            <a:ext cx="2286595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 Infrastructure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100117" y="5542731"/>
            <a:ext cx="3644875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Flask backend handles preprocessing, inference, logging, and feedback storage. API endpoints support prediction and retraining while keeping the app responsive.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4543" y="544637"/>
            <a:ext cx="1417960" cy="244822"/>
          </a:xfrm>
          <a:prstGeom prst="roundRect">
            <a:avLst>
              <a:gd name="adj" fmla="val 2334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3840" y="591666"/>
            <a:ext cx="1239366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RESULTS &amp; APPLICATIONS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94543" y="827261"/>
            <a:ext cx="8354913" cy="88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 Performance &amp; Real-World Applications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394543" y="1944514"/>
            <a:ext cx="2665661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Training Results (15 Epochs)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94543" y="2271117"/>
            <a:ext cx="759396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881" y="2293962"/>
            <a:ext cx="57150" cy="57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4081" y="2285405"/>
            <a:ext cx="616521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15161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Validation Accuracy (%)</a:t>
            </a:r>
            <a:endParaRPr lang="en-US" sz="450" dirty="0"/>
          </a:p>
        </p:txBody>
      </p:sp>
      <p:sp>
        <p:nvSpPr>
          <p:cNvPr id="9" name="Shape 6"/>
          <p:cNvSpPr/>
          <p:nvPr/>
        </p:nvSpPr>
        <p:spPr>
          <a:xfrm>
            <a:off x="1192039" y="2271117"/>
            <a:ext cx="710952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76" y="2293962"/>
            <a:ext cx="57150" cy="571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01576" y="2285405"/>
            <a:ext cx="568077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15161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Training Accuracy (%)</a:t>
            </a:r>
            <a:endParaRPr lang="en-US" sz="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43" y="2421582"/>
            <a:ext cx="4005560" cy="1752674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43" y="2421582"/>
            <a:ext cx="4005560" cy="17240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94543" y="4620667"/>
            <a:ext cx="4005560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Final validation accuracy reached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99.10%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with val_loss of 0.0344.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94543" y="5082853"/>
            <a:ext cx="4005560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 retraining improved performance by learning from misclassified samples.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748659" y="1944514"/>
            <a:ext cx="1761306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Applications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748659" y="2271117"/>
            <a:ext cx="1955453" cy="1248817"/>
          </a:xfrm>
          <a:prstGeom prst="roundRect">
            <a:avLst>
              <a:gd name="adj" fmla="val 45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894287" y="2416746"/>
            <a:ext cx="422672" cy="422672"/>
          </a:xfrm>
          <a:prstGeom prst="roundRect">
            <a:avLst>
              <a:gd name="adj" fmla="val 13519771"/>
            </a:avLst>
          </a:prstGeom>
          <a:solidFill>
            <a:srgbClr val="151617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0522" y="2532906"/>
            <a:ext cx="190202" cy="19020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4287" y="2934072"/>
            <a:ext cx="1664196" cy="44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Bank Cheque Recognition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798766" y="2271117"/>
            <a:ext cx="1955453" cy="1248817"/>
          </a:xfrm>
          <a:prstGeom prst="roundRect">
            <a:avLst>
              <a:gd name="adj" fmla="val 45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944395" y="2416746"/>
            <a:ext cx="422672" cy="422672"/>
          </a:xfrm>
          <a:prstGeom prst="roundRect">
            <a:avLst>
              <a:gd name="adj" fmla="val 13519771"/>
            </a:avLst>
          </a:prstGeom>
          <a:solidFill>
            <a:srgbClr val="151617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60629" y="2532906"/>
            <a:ext cx="190202" cy="19020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944395" y="2934072"/>
            <a:ext cx="1664196" cy="44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Postal Code Systems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4748659" y="3614589"/>
            <a:ext cx="1955453" cy="1248817"/>
          </a:xfrm>
          <a:prstGeom prst="roundRect">
            <a:avLst>
              <a:gd name="adj" fmla="val 45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4894287" y="3760217"/>
            <a:ext cx="422672" cy="422672"/>
          </a:xfrm>
          <a:prstGeom prst="roundRect">
            <a:avLst>
              <a:gd name="adj" fmla="val 13519771"/>
            </a:avLst>
          </a:prstGeom>
          <a:solidFill>
            <a:srgbClr val="151617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10522" y="3876377"/>
            <a:ext cx="190202" cy="19020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894287" y="4277544"/>
            <a:ext cx="1664196" cy="44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Smart Classrooms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6798766" y="3614589"/>
            <a:ext cx="1955453" cy="1248817"/>
          </a:xfrm>
          <a:prstGeom prst="roundRect">
            <a:avLst>
              <a:gd name="adj" fmla="val 45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6944395" y="3760217"/>
            <a:ext cx="422672" cy="422672"/>
          </a:xfrm>
          <a:prstGeom prst="roundRect">
            <a:avLst>
              <a:gd name="adj" fmla="val 13519771"/>
            </a:avLst>
          </a:prstGeom>
          <a:solidFill>
            <a:srgbClr val="151617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60629" y="3876377"/>
            <a:ext cx="190202" cy="19020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944395" y="4277544"/>
            <a:ext cx="1664196" cy="44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Document Processing</a:t>
            </a:r>
            <a:endParaRPr lang="en-US" sz="1350" dirty="0"/>
          </a:p>
        </p:txBody>
      </p:sp>
      <p:sp>
        <p:nvSpPr>
          <p:cNvPr id="33" name="Shape 23"/>
          <p:cNvSpPr/>
          <p:nvPr/>
        </p:nvSpPr>
        <p:spPr>
          <a:xfrm>
            <a:off x="4748659" y="4958060"/>
            <a:ext cx="1955453" cy="1248817"/>
          </a:xfrm>
          <a:prstGeom prst="roundRect">
            <a:avLst>
              <a:gd name="adj" fmla="val 45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4894287" y="5103688"/>
            <a:ext cx="422672" cy="422672"/>
          </a:xfrm>
          <a:prstGeom prst="roundRect">
            <a:avLst>
              <a:gd name="adj" fmla="val 13519771"/>
            </a:avLst>
          </a:prstGeom>
          <a:solidFill>
            <a:srgbClr val="151617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10522" y="5219849"/>
            <a:ext cx="190202" cy="19020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894287" y="5621015"/>
            <a:ext cx="1664196" cy="44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Automated Form Digitization</a:t>
            </a:r>
            <a:endParaRPr lang="en-US" sz="1350" dirty="0"/>
          </a:p>
        </p:txBody>
      </p:sp>
      <p:sp>
        <p:nvSpPr>
          <p:cNvPr id="37" name="Shape 26"/>
          <p:cNvSpPr/>
          <p:nvPr/>
        </p:nvSpPr>
        <p:spPr>
          <a:xfrm>
            <a:off x="6798766" y="4958060"/>
            <a:ext cx="1955453" cy="1248817"/>
          </a:xfrm>
          <a:prstGeom prst="roundRect">
            <a:avLst>
              <a:gd name="adj" fmla="val 45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6944395" y="5103688"/>
            <a:ext cx="422672" cy="422672"/>
          </a:xfrm>
          <a:prstGeom prst="roundRect">
            <a:avLst>
              <a:gd name="adj" fmla="val 13519771"/>
            </a:avLst>
          </a:prstGeom>
          <a:solidFill>
            <a:srgbClr val="151617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60629" y="5219849"/>
            <a:ext cx="190202" cy="19020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944395" y="5621015"/>
            <a:ext cx="1664196" cy="44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OCR Intelligent Scanning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535" y="570161"/>
            <a:ext cx="2257127" cy="287164"/>
          </a:xfrm>
          <a:prstGeom prst="roundRect">
            <a:avLst>
              <a:gd name="adj" fmla="val 1990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0590" y="623069"/>
            <a:ext cx="2055019" cy="18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FUTURE SCOPE · CONCLUSION · 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9535" y="906438"/>
            <a:ext cx="7632278" cy="501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Looking Ahead &amp; Project Summary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49535" y="1715467"/>
            <a:ext cx="2410495" cy="250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Future Enhancements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49535" y="2104579"/>
            <a:ext cx="1901800" cy="1266379"/>
          </a:xfrm>
          <a:prstGeom prst="roundRect">
            <a:avLst>
              <a:gd name="adj" fmla="val 7221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0485" y="2104579"/>
            <a:ext cx="76200" cy="1266379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8" name="Text 6"/>
          <p:cNvSpPr/>
          <p:nvPr/>
        </p:nvSpPr>
        <p:spPr>
          <a:xfrm>
            <a:off x="686246" y="2284140"/>
            <a:ext cx="148552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Cloud Deployment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remote accessibility &amp; scalability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74268" y="2104579"/>
            <a:ext cx="1901875" cy="1266379"/>
          </a:xfrm>
          <a:prstGeom prst="roundRect">
            <a:avLst>
              <a:gd name="adj" fmla="val 7221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5218" y="2104579"/>
            <a:ext cx="76200" cy="1266379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1" name="Text 9"/>
          <p:cNvSpPr/>
          <p:nvPr/>
        </p:nvSpPr>
        <p:spPr>
          <a:xfrm>
            <a:off x="2710979" y="2284140"/>
            <a:ext cx="148560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Mobile App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camera-based instant prediction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9535" y="3493889"/>
            <a:ext cx="1901800" cy="1266379"/>
          </a:xfrm>
          <a:prstGeom prst="roundRect">
            <a:avLst>
              <a:gd name="adj" fmla="val 7221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0485" y="3493889"/>
            <a:ext cx="76200" cy="1266379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4" name="Text 12"/>
          <p:cNvSpPr/>
          <p:nvPr/>
        </p:nvSpPr>
        <p:spPr>
          <a:xfrm>
            <a:off x="686246" y="3673450"/>
            <a:ext cx="148552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Real-Time Camera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live handwritten recognition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474268" y="3493889"/>
            <a:ext cx="1901875" cy="1266379"/>
          </a:xfrm>
          <a:prstGeom prst="roundRect">
            <a:avLst>
              <a:gd name="adj" fmla="val 7221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5218" y="3493889"/>
            <a:ext cx="76200" cy="1266379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2710979" y="3673450"/>
            <a:ext cx="148560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Alphabet Recognition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extend to full character sets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9535" y="4883200"/>
            <a:ext cx="1901800" cy="1266379"/>
          </a:xfrm>
          <a:prstGeom prst="roundRect">
            <a:avLst>
              <a:gd name="adj" fmla="val 7221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0485" y="4883200"/>
            <a:ext cx="76200" cy="1266379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20" name="Text 18"/>
          <p:cNvSpPr/>
          <p:nvPr/>
        </p:nvSpPr>
        <p:spPr>
          <a:xfrm>
            <a:off x="686246" y="5062761"/>
            <a:ext cx="148552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Multi-Language Support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regional &amp; international scripts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56981" y="1592535"/>
            <a:ext cx="4157886" cy="4695304"/>
          </a:xfrm>
          <a:prstGeom prst="roundRect">
            <a:avLst>
              <a:gd name="adj" fmla="val 137"/>
            </a:avLst>
          </a:prstGeom>
          <a:solidFill>
            <a:srgbClr val="151617"/>
          </a:solidFill>
          <a:ln/>
        </p:spPr>
      </p:sp>
      <p:sp>
        <p:nvSpPr>
          <p:cNvPr id="22" name="Text 20"/>
          <p:cNvSpPr/>
          <p:nvPr/>
        </p:nvSpPr>
        <p:spPr>
          <a:xfrm>
            <a:off x="4817492" y="1715467"/>
            <a:ext cx="2007096" cy="250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817492" y="2089249"/>
            <a:ext cx="383686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Successfully built an intelligent handwritten digit recognition system using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CNN + Tesseract OCR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supporting single-digit, multi-digit, and Roman numeral inputs with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99.10% validation accuracy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The adaptive retraining mechanism and Flask web app demonstrate practical, real-world usability.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17492" y="3855318"/>
            <a:ext cx="3836863" cy="11981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17492" y="4045669"/>
            <a:ext cx="2144464" cy="250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Team Contributions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817492" y="4419451"/>
            <a:ext cx="3836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Amulya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Architecture, CNN, OCR, Web App</a:t>
            </a:r>
            <a:endParaRPr lang="en-US" sz="12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Amaan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Retraining, Testing, Accuracy</a:t>
            </a:r>
            <a:endParaRPr lang="en-US" sz="12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Anusha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Segmentation, Contour Detection</a:t>
            </a:r>
            <a:endParaRPr lang="en-US" sz="12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Muskan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Optimization, Dataset Refinement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2026-05-10T13:55:57Z</dcterms:created>
  <dcterms:modified xsi:type="dcterms:W3CDTF">2026-05-10T13:55:57Z</dcterms:modified>
</cp:coreProperties>
</file>